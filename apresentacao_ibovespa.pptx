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546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Apresente o título, seu nome e a instituição. Explique em uma frase que o artigo investiga a classificação da direção do Ibovespa cinco pregões à frente usando modelos de aprendizado de máquina.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que o mercado financeiro é dinâmico e que o projeto usa o histórico do Ibovespa como base para investigar padrões. Introduza o aprendizado de máquina como ferramenta para classificação.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Deixe claro que o projeto não pretende prever o preço exato do Ibovespa. O alvo é binário: comparar o fechamento atual com o fechamento cinco pregões depois e classificar como alta ou queda.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Apresente o fluxo geral: dados históricos, construção de atributos, treinamento de modelos e saída binária. Reforce que o objetivo é comparar os métodos em uma mesma tarefa.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Leia o objetivo geral e sintetize os objetivos específicos. Não precisa explicar cada um longamente.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o fluxo. Um ponto importante: a separação entre treinamento e avaliação respeitará a ordem temporal para evitar o uso indevido de informações futuras.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Apresente rapidamente as ferramentas. O projeto será desenvolvido localmente, utilizando Python e bibliotecas de análise de dados e aprendizado de máquina.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Como o projeto ainda será desenvolvido, apresente estes pontos como resultados esperados, sem afirmar antecipadamente que algum modelo será superior.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Finalize retomando em uma frase a contribuição pretendida do artigo. Em seguida, agradeça à banca e abra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CLASSIFICAÇÃO DA DIREÇÃO</a:t>
            </a:r>
            <a:br>
              <a:rPr dirty="0"/>
            </a:br>
            <a:r>
              <a:rPr dirty="0"/>
              <a:t>FUTURA DO IBOVESPA</a:t>
            </a:r>
          </a:p>
          <a:p>
            <a:pPr>
              <a:spcBef>
                <a:spcPts val="1200"/>
              </a:spcBef>
              <a:defRPr sz="1800">
                <a:solidFill>
                  <a:srgbClr val="BED2E6"/>
                </a:solidFill>
                <a:latin typeface="Aptos"/>
              </a:defRPr>
            </a:pPr>
            <a:r>
              <a:rPr dirty="0"/>
              <a:t>UTILIZANDO MÉTODOS DE APRENDIZADO DE MÁQUINA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892040"/>
            <a:ext cx="2697213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rPr dirty="0"/>
              <a:t>Marcos </a:t>
            </a:r>
            <a:r>
              <a:rPr lang="pt-BR" dirty="0"/>
              <a:t>Daniel da Silva </a:t>
            </a:r>
            <a:r>
              <a:rPr dirty="0"/>
              <a:t>Lima</a:t>
            </a:r>
          </a:p>
          <a:p>
            <a:pPr>
              <a:defRPr sz="1200">
                <a:solidFill>
                  <a:srgbClr val="BED2E6"/>
                </a:solidFill>
                <a:latin typeface="Aptos"/>
              </a:defRPr>
            </a:pPr>
            <a:r>
              <a:rPr dirty="0" err="1"/>
              <a:t>Faculdade</a:t>
            </a:r>
            <a:r>
              <a:rPr dirty="0"/>
              <a:t> de </a:t>
            </a:r>
            <a:r>
              <a:rPr dirty="0" err="1"/>
              <a:t>Tecnologia</a:t>
            </a:r>
            <a:r>
              <a:rPr dirty="0"/>
              <a:t> de </a:t>
            </a:r>
            <a:r>
              <a:rPr dirty="0" err="1"/>
              <a:t>Marília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C5F91"/>
                </a:solidFill>
                <a:latin typeface="Aptos"/>
              </a:defRPr>
            </a:pPr>
            <a: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9778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4"/>
                </a:solidFill>
                <a:latin typeface="Aptos Display"/>
              </a:defRPr>
            </a:pPr>
            <a:r>
              <a:t>O mercado financeiro e o Aprendizado de Máquina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764764"/>
            <a:ext cx="4691888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5F91"/>
                </a:solidFill>
                <a:latin typeface="Aptos"/>
              </a:defRPr>
            </a:pPr>
            <a:r>
              <a:rPr dirty="0"/>
              <a:t>MERCADO FINANCEIRO</a:t>
            </a:r>
            <a:endParaRPr lang="pt-BR" dirty="0"/>
          </a:p>
          <a:p>
            <a:pPr>
              <a:defRPr sz="1700" b="1">
                <a:solidFill>
                  <a:srgbClr val="2C5F91"/>
                </a:solidFill>
                <a:latin typeface="Aptos"/>
              </a:defRPr>
            </a:pPr>
            <a:endParaRPr dirty="0"/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rPr dirty="0" err="1"/>
              <a:t>Comportamento</a:t>
            </a:r>
            <a:r>
              <a:rPr dirty="0"/>
              <a:t> </a:t>
            </a:r>
            <a:r>
              <a:rPr dirty="0" err="1"/>
              <a:t>dinâmico</a:t>
            </a:r>
            <a:r>
              <a:rPr dirty="0"/>
              <a:t> e </a:t>
            </a:r>
            <a:r>
              <a:rPr dirty="0" err="1"/>
              <a:t>influenciado</a:t>
            </a:r>
            <a:r>
              <a:rPr dirty="0"/>
              <a:t> por </a:t>
            </a:r>
            <a:r>
              <a:rPr dirty="0" err="1"/>
              <a:t>diversos</a:t>
            </a:r>
            <a:r>
              <a:rPr dirty="0"/>
              <a:t> </a:t>
            </a:r>
            <a:r>
              <a:rPr dirty="0" err="1"/>
              <a:t>fatores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Ibovespa</a:t>
            </a:r>
            <a:r>
              <a:rPr dirty="0"/>
              <a:t> é </a:t>
            </a:r>
            <a:r>
              <a:rPr dirty="0" err="1"/>
              <a:t>utilizado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estudo</a:t>
            </a:r>
            <a:r>
              <a:rPr dirty="0"/>
              <a:t> de </a:t>
            </a:r>
            <a:r>
              <a:rPr dirty="0" err="1"/>
              <a:t>caso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rPr dirty="0"/>
              <a:t>Dados </a:t>
            </a:r>
            <a:r>
              <a:rPr dirty="0" err="1"/>
              <a:t>históricos</a:t>
            </a:r>
            <a:r>
              <a:rPr dirty="0"/>
              <a:t> </a:t>
            </a:r>
            <a:r>
              <a:rPr dirty="0" err="1"/>
              <a:t>permitem</a:t>
            </a:r>
            <a:r>
              <a:rPr dirty="0"/>
              <a:t> </a:t>
            </a:r>
            <a:r>
              <a:rPr dirty="0" err="1"/>
              <a:t>analisar</a:t>
            </a:r>
            <a:r>
              <a:rPr dirty="0"/>
              <a:t> o </a:t>
            </a:r>
            <a:r>
              <a:rPr dirty="0" err="1"/>
              <a:t>comportamento</a:t>
            </a:r>
            <a:r>
              <a:rPr dirty="0"/>
              <a:t> do </a:t>
            </a:r>
            <a:r>
              <a:rPr dirty="0" err="1"/>
              <a:t>índice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920240"/>
            <a:ext cx="521208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2764764"/>
            <a:ext cx="4700016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5825B"/>
                </a:solidFill>
                <a:latin typeface="Aptos"/>
              </a:defRPr>
            </a:pPr>
            <a:r>
              <a:rPr dirty="0"/>
              <a:t>APRENDIZADO DE MÁQUINA</a:t>
            </a:r>
            <a:endParaRPr lang="pt-BR" dirty="0"/>
          </a:p>
          <a:p>
            <a:pPr>
              <a:defRPr sz="1700" b="1">
                <a:solidFill>
                  <a:srgbClr val="35825B"/>
                </a:solidFill>
                <a:latin typeface="Aptos"/>
              </a:defRPr>
            </a:pPr>
            <a:endParaRPr dirty="0"/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padrões</a:t>
            </a:r>
            <a:r>
              <a:rPr dirty="0"/>
              <a:t> </a:t>
            </a:r>
            <a:r>
              <a:rPr dirty="0" err="1"/>
              <a:t>presentes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dados.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aplicado</a:t>
            </a:r>
            <a:r>
              <a:rPr dirty="0"/>
              <a:t> a </a:t>
            </a:r>
            <a:r>
              <a:rPr dirty="0" err="1"/>
              <a:t>problemas</a:t>
            </a:r>
            <a:r>
              <a:rPr dirty="0"/>
              <a:t> de </a:t>
            </a:r>
            <a:r>
              <a:rPr dirty="0" err="1"/>
              <a:t>classificação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rPr dirty="0" err="1"/>
              <a:t>Possibilita</a:t>
            </a:r>
            <a:r>
              <a:rPr dirty="0"/>
              <a:t>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métodos</a:t>
            </a:r>
            <a:r>
              <a:rPr dirty="0"/>
              <a:t> para a </a:t>
            </a:r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tarefa</a:t>
            </a:r>
            <a:r>
              <a:rPr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787"/>
                </a:solidFill>
                <a:latin typeface="Aptos"/>
              </a:defRPr>
            </a:pPr>
            <a:r>
              <a:t>Classificação da direção futura do Ibovespa utilizando métodos de Aprendizado de Máquina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C5F91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9778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4"/>
                </a:solidFill>
                <a:latin typeface="Aptos Display"/>
              </a:defRPr>
            </a:pPr>
            <a:r>
              <a:t>É possível classificar a direção futura do Ibovespa?</a:t>
            </a:r>
          </a:p>
          <a:p>
            <a:pPr>
              <a:spcBef>
                <a:spcPts val="500"/>
              </a:spcBef>
              <a:defRPr sz="1400">
                <a:solidFill>
                  <a:srgbClr val="697787"/>
                </a:solidFill>
                <a:latin typeface="Aptos"/>
              </a:defRPr>
            </a:pPr>
            <a:r>
              <a:t>Horizonte de previsão: cinco pregões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27432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487168"/>
            <a:ext cx="237744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42034"/>
                </a:solidFill>
                <a:latin typeface="Aptos"/>
              </a:defRPr>
            </a:pPr>
            <a:r>
              <a:rPr dirty="0"/>
              <a:t>HOJE</a:t>
            </a:r>
          </a:p>
          <a:p>
            <a:pPr algn="ctr">
              <a:defRPr sz="1000">
                <a:solidFill>
                  <a:srgbClr val="697787"/>
                </a:solidFill>
                <a:latin typeface="Aptos"/>
              </a:defRPr>
            </a:pPr>
            <a:r>
              <a:rPr dirty="0" err="1"/>
              <a:t>informações</a:t>
            </a:r>
            <a:r>
              <a:rPr dirty="0"/>
              <a:t> </a:t>
            </a:r>
            <a:r>
              <a:rPr dirty="0" err="1"/>
              <a:t>disponíveis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709160" y="2057400"/>
            <a:ext cx="27432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2040" y="2468880"/>
            <a:ext cx="237744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42034"/>
                </a:solidFill>
                <a:latin typeface="Aptos"/>
              </a:defRPr>
            </a:pPr>
            <a:r>
              <a:rPr dirty="0"/>
              <a:t>+ 5 PREGÕES</a:t>
            </a:r>
          </a:p>
          <a:p>
            <a:pPr algn="ctr">
              <a:defRPr sz="1000">
                <a:solidFill>
                  <a:srgbClr val="697787"/>
                </a:solidFill>
                <a:latin typeface="Aptos"/>
              </a:defRPr>
            </a:pPr>
            <a:r>
              <a:rPr dirty="0" err="1"/>
              <a:t>horizonte</a:t>
            </a:r>
            <a:endParaRPr dirty="0"/>
          </a:p>
        </p:txBody>
      </p:sp>
      <p:sp>
        <p:nvSpPr>
          <p:cNvPr id="10" name="Right Arrow 9"/>
          <p:cNvSpPr/>
          <p:nvPr/>
        </p:nvSpPr>
        <p:spPr>
          <a:xfrm>
            <a:off x="3840480" y="2487168"/>
            <a:ext cx="777240" cy="502920"/>
          </a:xfrm>
          <a:prstGeom prst="rightArrow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34440" y="3977639"/>
            <a:ext cx="42519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44802" y="4243705"/>
            <a:ext cx="3104388" cy="65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5825B"/>
                </a:solidFill>
                <a:latin typeface="Aptos"/>
              </a:defRPr>
            </a:pPr>
            <a:r>
              <a:rPr dirty="0"/>
              <a:t>ALTA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rPr dirty="0" err="1"/>
              <a:t>Fechamento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t+5 &gt; </a:t>
            </a:r>
            <a:r>
              <a:rPr dirty="0" err="1"/>
              <a:t>fechamento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3977639"/>
            <a:ext cx="42519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7634" y="4243705"/>
            <a:ext cx="3235491" cy="65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A4545"/>
                </a:solidFill>
                <a:latin typeface="Aptos"/>
              </a:defRPr>
            </a:pPr>
            <a:r>
              <a:rPr dirty="0"/>
              <a:t>QUEDA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rPr dirty="0" err="1"/>
              <a:t>Fechamento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t+5 &lt; </a:t>
            </a:r>
            <a:r>
              <a:rPr dirty="0" err="1"/>
              <a:t>fechamento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78265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034"/>
                </a:solidFill>
                <a:latin typeface="Aptos"/>
              </a:defRPr>
            </a:pP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classificação</a:t>
            </a:r>
            <a:r>
              <a:rPr dirty="0"/>
              <a:t> </a:t>
            </a:r>
            <a:r>
              <a:rPr dirty="0" err="1"/>
              <a:t>binária</a:t>
            </a:r>
            <a:r>
              <a:rPr dirty="0"/>
              <a:t> —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previsão</a:t>
            </a:r>
            <a:r>
              <a:rPr dirty="0"/>
              <a:t> de um valor </a:t>
            </a:r>
            <a:r>
              <a:rPr dirty="0" err="1"/>
              <a:t>exato</a:t>
            </a:r>
            <a:r>
              <a:rPr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787"/>
                </a:solidFill>
                <a:latin typeface="Aptos"/>
              </a:defRPr>
            </a:pPr>
            <a:r>
              <a:t>Classificação da direção futura do Ibovespa utilizando métodos de Aprendizado de Máquina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C5F91"/>
                </a:solidFill>
                <a:latin typeface="Aptos"/>
              </a:defRPr>
            </a:pPr>
            <a:r>
              <a:t>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9778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4"/>
                </a:solidFill>
                <a:latin typeface="Aptos Display"/>
              </a:defRPr>
            </a:pPr>
            <a:r>
              <a:t>Do histórico do índice à classificação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237744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0542" y="2762710"/>
            <a:ext cx="2022196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5F91"/>
                </a:solidFill>
                <a:latin typeface="Aptos"/>
              </a:defRPr>
            </a:pPr>
            <a:r>
              <a:rPr dirty="0"/>
              <a:t>DADOS</a:t>
            </a:r>
          </a:p>
          <a:p>
            <a:pPr algn="ctr">
              <a:spcBef>
                <a:spcPts val="1000"/>
              </a:spcBef>
              <a:defRPr sz="1100">
                <a:solidFill>
                  <a:srgbClr val="232A32"/>
                </a:solidFill>
                <a:latin typeface="Aptos"/>
              </a:defRPr>
            </a:pPr>
            <a:r>
              <a:rPr dirty="0" err="1"/>
              <a:t>Histórico</a:t>
            </a:r>
            <a:r>
              <a:rPr dirty="0"/>
              <a:t> do </a:t>
            </a:r>
            <a:r>
              <a:rPr dirty="0" err="1"/>
              <a:t>Ibovespa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3337560" y="2240280"/>
            <a:ext cx="237744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626967" y="2678071"/>
            <a:ext cx="1798626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5F91"/>
                </a:solidFill>
                <a:latin typeface="Aptos"/>
              </a:defRPr>
            </a:pPr>
            <a:r>
              <a:rPr dirty="0"/>
              <a:t>ATRIBUTOS</a:t>
            </a:r>
          </a:p>
          <a:p>
            <a:pPr algn="ctr">
              <a:spcBef>
                <a:spcPts val="1000"/>
              </a:spcBef>
              <a:defRPr sz="1100">
                <a:solidFill>
                  <a:srgbClr val="232A32"/>
                </a:solidFill>
                <a:latin typeface="Aptos"/>
              </a:defRPr>
            </a:pPr>
            <a:r>
              <a:rPr dirty="0" err="1"/>
              <a:t>Retornos</a:t>
            </a:r>
            <a:r>
              <a:rPr dirty="0"/>
              <a:t> · </a:t>
            </a:r>
            <a:r>
              <a:rPr dirty="0" err="1"/>
              <a:t>médias</a:t>
            </a:r>
            <a:r>
              <a:rPr dirty="0"/>
              <a:t> </a:t>
            </a:r>
            <a:r>
              <a:rPr dirty="0" err="1"/>
              <a:t>móveis</a:t>
            </a:r>
            <a:r>
              <a:rPr dirty="0"/>
              <a:t> · </a:t>
            </a:r>
            <a:r>
              <a:rPr dirty="0" err="1"/>
              <a:t>volatilidade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172200" y="2240280"/>
            <a:ext cx="237744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4583" y="2678071"/>
            <a:ext cx="1952674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5F91"/>
                </a:solidFill>
                <a:latin typeface="Aptos"/>
              </a:defRPr>
            </a:pPr>
            <a:r>
              <a:rPr dirty="0"/>
              <a:t>MODELOS</a:t>
            </a:r>
          </a:p>
          <a:p>
            <a:pPr algn="ctr">
              <a:spcBef>
                <a:spcPts val="1000"/>
              </a:spcBef>
              <a:defRPr sz="1100">
                <a:solidFill>
                  <a:srgbClr val="232A32"/>
                </a:solidFill>
                <a:latin typeface="Aptos"/>
              </a:defRPr>
            </a:pPr>
            <a:r>
              <a:rPr dirty="0" err="1"/>
              <a:t>Regressão</a:t>
            </a:r>
            <a:r>
              <a:rPr dirty="0"/>
              <a:t> </a:t>
            </a:r>
            <a:r>
              <a:rPr dirty="0" err="1"/>
              <a:t>Logística</a:t>
            </a:r>
            <a:r>
              <a:rPr dirty="0"/>
              <a:t> · </a:t>
            </a:r>
            <a:r>
              <a:rPr dirty="0" err="1"/>
              <a:t>Árvore</a:t>
            </a:r>
            <a:r>
              <a:rPr dirty="0"/>
              <a:t> · Random Forest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2240280"/>
            <a:ext cx="237744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28859" y="2756966"/>
            <a:ext cx="1933401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5F91"/>
                </a:solidFill>
                <a:latin typeface="Aptos"/>
              </a:defRPr>
            </a:pPr>
            <a:r>
              <a:rPr dirty="0"/>
              <a:t>SAÍDA</a:t>
            </a:r>
          </a:p>
          <a:p>
            <a:pPr algn="ctr">
              <a:spcBef>
                <a:spcPts val="1000"/>
              </a:spcBef>
              <a:defRPr sz="1100">
                <a:solidFill>
                  <a:srgbClr val="232A32"/>
                </a:solidFill>
                <a:latin typeface="Aptos"/>
              </a:defRPr>
            </a:pPr>
            <a:r>
              <a:rPr dirty="0"/>
              <a:t>ALTA / QUEDA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26080" y="2880360"/>
            <a:ext cx="384048" cy="411480"/>
          </a:xfrm>
          <a:prstGeom prst="rightArrow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5760720" y="2880360"/>
            <a:ext cx="384048" cy="411480"/>
          </a:xfrm>
          <a:prstGeom prst="rightArrow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8595360" y="2880360"/>
            <a:ext cx="384048" cy="411480"/>
          </a:xfrm>
          <a:prstGeom prst="rightArrow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828800" y="4800600"/>
            <a:ext cx="850392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84832" y="4965192"/>
            <a:ext cx="79918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5825B"/>
                </a:solidFill>
                <a:latin typeface="Aptos"/>
              </a:defRPr>
            </a:pPr>
            <a:r>
              <a:t>PERGUNTA CENTRAL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Os modelos conseguem utilizar informações históricas para classificar a direção cinco pregões à frente?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787"/>
                </a:solidFill>
                <a:latin typeface="Aptos"/>
              </a:defRPr>
            </a:pPr>
            <a:r>
              <a:t>Classificação da direção futura do Ibovespa utilizando métodos de Aprendizado de Máquina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C5F91"/>
                </a:solidFill>
                <a:latin typeface="Aptos"/>
              </a:defRPr>
            </a:pPr>
            <a: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9778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4"/>
                </a:solidFill>
                <a:latin typeface="Aptos Display"/>
              </a:defRPr>
            </a:pPr>
            <a:r>
              <a:t>O que o artigo busca alcançar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728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1046073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5F91"/>
                </a:solidFill>
                <a:latin typeface="Aptos"/>
              </a:defRPr>
            </a:pPr>
            <a:r>
              <a:t>OBJETIVO GERAL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ptos"/>
              </a:defRPr>
            </a:pPr>
            <a:r>
              <a:t>Desenvolver e avaliar modelos de Aprendizado de Máquina capazes de classificar a direção futura do Ibovespa em um horizonte de cinco pregões.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383280"/>
            <a:ext cx="384048" cy="384048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3364992"/>
            <a:ext cx="4709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Coletar e preparar dados históricos do Ibovespa.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3383280"/>
            <a:ext cx="384048" cy="384048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2" y="3364992"/>
            <a:ext cx="4709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Construir características relacionadas ao comportamento recente do índice.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297680"/>
            <a:ext cx="384048" cy="384048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61872" y="4279392"/>
            <a:ext cx="4709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Treinar modelos de classificação utilizando os dados históricos.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4297680"/>
            <a:ext cx="384048" cy="384048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48272" y="4279392"/>
            <a:ext cx="4709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Comparar os modelos por meio de métricas de avaliação.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212080"/>
            <a:ext cx="384048" cy="384048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61872" y="5193792"/>
            <a:ext cx="4709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t>Investigar a possibilidade de adaptar a metodologia a outros ativos.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787"/>
                </a:solidFill>
                <a:latin typeface="Aptos"/>
              </a:defRPr>
            </a:pPr>
            <a:r>
              <a:t>Classificação da direção futura do Ibovespa utilizando métodos de Aprendizado de Máquina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C5F91"/>
                </a:solidFill>
                <a:latin typeface="Aptos"/>
              </a:defRPr>
            </a:pPr>
            <a: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977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4"/>
                </a:solidFill>
                <a:latin typeface="Aptos Display"/>
              </a:defRPr>
            </a:pPr>
            <a:r>
              <a:t>Fluxo de desenvolvimento do estudo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33375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67512" y="2057400"/>
            <a:ext cx="411480" cy="411480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12140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075688"/>
            <a:ext cx="2331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034"/>
                </a:solidFill>
                <a:latin typeface="Aptos"/>
              </a:defRPr>
            </a:pPr>
            <a:r>
              <a:t>COLETA</a:t>
            </a:r>
          </a:p>
          <a:p>
            <a:pPr>
              <a:spcBef>
                <a:spcPts val="700"/>
              </a:spcBef>
              <a:defRPr sz="1100">
                <a:solidFill>
                  <a:srgbClr val="232A32"/>
                </a:solidFill>
                <a:latin typeface="Aptos"/>
              </a:defRPr>
            </a:pPr>
            <a:r>
              <a:t>Dados históricos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74519"/>
            <a:ext cx="33375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62272" y="2057400"/>
            <a:ext cx="411480" cy="411480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212140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2075688"/>
            <a:ext cx="2331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034"/>
                </a:solidFill>
                <a:latin typeface="Aptos"/>
              </a:defRPr>
            </a:pPr>
            <a:r>
              <a:t>PREPARAÇÃO</a:t>
            </a:r>
          </a:p>
          <a:p>
            <a:pPr>
              <a:spcBef>
                <a:spcPts val="700"/>
              </a:spcBef>
              <a:defRPr sz="1100">
                <a:solidFill>
                  <a:srgbClr val="232A32"/>
                </a:solidFill>
                <a:latin typeface="Aptos"/>
              </a:defRPr>
            </a:pPr>
            <a:r>
              <a:t>Tratamento e organização temporal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74519"/>
            <a:ext cx="33375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57032" y="2057400"/>
            <a:ext cx="411480" cy="411480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212140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2075688"/>
            <a:ext cx="2331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034"/>
                </a:solidFill>
                <a:latin typeface="Aptos"/>
              </a:defRPr>
            </a:pPr>
            <a:r>
              <a:t>ATRIBUTOS</a:t>
            </a:r>
          </a:p>
          <a:p>
            <a:pPr>
              <a:spcBef>
                <a:spcPts val="700"/>
              </a:spcBef>
              <a:defRPr sz="1100">
                <a:solidFill>
                  <a:srgbClr val="232A32"/>
                </a:solidFill>
                <a:latin typeface="Aptos"/>
              </a:defRPr>
            </a:pPr>
            <a:r>
              <a:t>Retornos · médias móveis · volatilidade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31920"/>
            <a:ext cx="33375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7512" y="4114800"/>
            <a:ext cx="411480" cy="411480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417880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33087"/>
            <a:ext cx="2331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034"/>
                </a:solidFill>
                <a:latin typeface="Aptos"/>
              </a:defRPr>
            </a:pPr>
            <a:r>
              <a:t>ALVO</a:t>
            </a:r>
          </a:p>
          <a:p>
            <a:pPr>
              <a:spcBef>
                <a:spcPts val="700"/>
              </a:spcBef>
              <a:defRPr sz="1100">
                <a:solidFill>
                  <a:srgbClr val="232A32"/>
                </a:solidFill>
                <a:latin typeface="Aptos"/>
              </a:defRPr>
            </a:pPr>
            <a:r>
              <a:t>Alta / queda em t+5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931920"/>
            <a:ext cx="33375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62272" y="4114800"/>
            <a:ext cx="411480" cy="411480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62272" y="417880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4133087"/>
            <a:ext cx="2331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034"/>
                </a:solidFill>
                <a:latin typeface="Aptos"/>
              </a:defRPr>
            </a:pPr>
            <a:r>
              <a:t>TREINAMENTO</a:t>
            </a:r>
          </a:p>
          <a:p>
            <a:pPr>
              <a:spcBef>
                <a:spcPts val="700"/>
              </a:spcBef>
              <a:defRPr sz="1100">
                <a:solidFill>
                  <a:srgbClr val="232A32"/>
                </a:solidFill>
                <a:latin typeface="Aptos"/>
              </a:defRPr>
            </a:pPr>
            <a:r>
              <a:t>3 modelos de classificação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931920"/>
            <a:ext cx="33375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57032" y="4114800"/>
            <a:ext cx="411480" cy="411480"/>
          </a:xfrm>
          <a:prstGeom prst="ellipse">
            <a:avLst/>
          </a:prstGeom>
          <a:solidFill>
            <a:srgbClr val="2C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57032" y="417880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5672" y="4133087"/>
            <a:ext cx="2331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034"/>
                </a:solidFill>
                <a:latin typeface="Aptos"/>
              </a:defRPr>
            </a:pPr>
            <a:r>
              <a:t>AVALIAÇÃO</a:t>
            </a:r>
          </a:p>
          <a:p>
            <a:pPr>
              <a:spcBef>
                <a:spcPts val="700"/>
              </a:spcBef>
              <a:defRPr sz="1100">
                <a:solidFill>
                  <a:srgbClr val="232A32"/>
                </a:solidFill>
                <a:latin typeface="Aptos"/>
              </a:defRPr>
            </a:pPr>
            <a:r>
              <a:t>Métricas + matriz de confusão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787"/>
                </a:solidFill>
                <a:latin typeface="Aptos"/>
              </a:defRPr>
            </a:pPr>
            <a:r>
              <a:t>Classificação da direção futura do Ibovespa utilizando métodos de Aprendizado de Máquina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C5F91"/>
                </a:solidFill>
                <a:latin typeface="Aptos"/>
              </a:defRPr>
            </a:pPr>
            <a:r>
              <a:t>TECNOLOGIAS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9778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4"/>
                </a:solidFill>
                <a:latin typeface="Aptos Display"/>
              </a:defRPr>
            </a:pPr>
            <a:r>
              <a:t>Ferramentas utilizadas no desenvolvimento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1546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130552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5F91"/>
                </a:solidFill>
                <a:latin typeface="Aptos"/>
              </a:defRPr>
            </a:pPr>
            <a:r>
              <a:t>PYTHON</a:t>
            </a:r>
          </a:p>
          <a:p>
            <a:pPr algn="ctr">
              <a:spcBef>
                <a:spcPts val="800"/>
              </a:spcBef>
              <a:defRPr sz="1050">
                <a:solidFill>
                  <a:srgbClr val="232A32"/>
                </a:solidFill>
                <a:latin typeface="Aptos"/>
              </a:defRPr>
            </a:pPr>
            <a:r>
              <a:t>Linguagem principal do projeto.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74519"/>
            <a:ext cx="31546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2130552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5F91"/>
                </a:solidFill>
                <a:latin typeface="Aptos"/>
              </a:defRPr>
            </a:pPr>
            <a:r>
              <a:t>PANDAS / NUMPY</a:t>
            </a:r>
          </a:p>
          <a:p>
            <a:pPr algn="ctr">
              <a:spcBef>
                <a:spcPts val="800"/>
              </a:spcBef>
              <a:defRPr sz="1050">
                <a:solidFill>
                  <a:srgbClr val="232A32"/>
                </a:solidFill>
                <a:latin typeface="Aptos"/>
              </a:defRPr>
            </a:pPr>
            <a:r>
              <a:t>Manipulação e transformação dos dados.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874519"/>
            <a:ext cx="31546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8" y="2130552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5F91"/>
                </a:solidFill>
                <a:latin typeface="Aptos"/>
              </a:defRPr>
            </a:pPr>
            <a:r>
              <a:t>SCIKIT-LEARN</a:t>
            </a:r>
          </a:p>
          <a:p>
            <a:pPr algn="ctr">
              <a:spcBef>
                <a:spcPts val="800"/>
              </a:spcBef>
              <a:defRPr sz="1050">
                <a:solidFill>
                  <a:srgbClr val="232A32"/>
                </a:solidFill>
                <a:latin typeface="Aptos"/>
              </a:defRPr>
            </a:pPr>
            <a:r>
              <a:t>Modelos de classificação e métricas.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931920"/>
            <a:ext cx="31546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61488" y="4187952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5F91"/>
                </a:solidFill>
                <a:latin typeface="Aptos"/>
              </a:defRPr>
            </a:pPr>
            <a:r>
              <a:t>MATPLOTLIB / SEABORN</a:t>
            </a:r>
          </a:p>
          <a:p>
            <a:pPr algn="ctr">
              <a:spcBef>
                <a:spcPts val="800"/>
              </a:spcBef>
              <a:defRPr sz="1050">
                <a:solidFill>
                  <a:srgbClr val="232A32"/>
                </a:solidFill>
                <a:latin typeface="Aptos"/>
              </a:defRPr>
            </a:pPr>
            <a:r>
              <a:t>Visualização de dados e resultados.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931920"/>
            <a:ext cx="31546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7" y="4187952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5F91"/>
                </a:solidFill>
                <a:latin typeface="Aptos"/>
              </a:defRPr>
            </a:pPr>
            <a:r>
              <a:t>JUPYTER NOTEBOOK</a:t>
            </a:r>
          </a:p>
          <a:p>
            <a:pPr algn="ctr">
              <a:spcBef>
                <a:spcPts val="800"/>
              </a:spcBef>
              <a:defRPr sz="1050">
                <a:solidFill>
                  <a:srgbClr val="232A32"/>
                </a:solidFill>
                <a:latin typeface="Aptos"/>
              </a:defRPr>
            </a:pPr>
            <a:r>
              <a:t>Desenvolvimento e documentação das etapas.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787"/>
                </a:solidFill>
                <a:latin typeface="Aptos"/>
              </a:defRPr>
            </a:pPr>
            <a:r>
              <a:t>Classificação da direção futura do Ibovespa utilizando métodos de Aprendizado de Máquina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C5F91"/>
                </a:solidFill>
                <a:latin typeface="Aptos"/>
              </a:defRPr>
            </a:pPr>
            <a:r>
              <a:t>RESULTADOS ESPERADOS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9778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4"/>
                </a:solidFill>
                <a:latin typeface="Aptos Display"/>
              </a:defRPr>
            </a:pPr>
            <a:r>
              <a:t>O que esperamos obter ao final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5F91"/>
                </a:solidFill>
                <a:latin typeface="Aptos"/>
              </a:defRPr>
            </a:pPr>
            <a:r>
              <a:t>COMPARAÇÃO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93852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t>Avaliar o desempenho dos três modelos na mesma tarefa de classificação.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69848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5F91"/>
                </a:solidFill>
                <a:latin typeface="Aptos"/>
              </a:defRPr>
            </a:pPr>
            <a:r>
              <a:t>ANÁLISE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08152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t>Investigar a utilidade das características extraídas do histórico do índice.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1069848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5F91"/>
                </a:solidFill>
                <a:latin typeface="Aptos"/>
              </a:defRPr>
            </a:pPr>
            <a:r>
              <a:t>METODOLOGIA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422452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t>Estabelecer um fluxo experimental reproduzível para o problema.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539496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5F91"/>
                </a:solidFill>
                <a:latin typeface="Aptos"/>
              </a:defRPr>
            </a:pPr>
            <a:r>
              <a:t>EXTENSÃO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536752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t>Criar uma base metodológica para futuros estudos com outros ativos financeiros.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55080"/>
            <a:ext cx="1024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97787"/>
                </a:solidFill>
                <a:latin typeface="Aptos"/>
              </a:defRPr>
            </a:pPr>
            <a:r>
              <a:t>Os resultados serão obtidos após a implementação e avaliação experimental.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787"/>
                </a:solidFill>
                <a:latin typeface="Aptos"/>
              </a:defRPr>
            </a:pPr>
            <a:r>
              <a:t>Classificação da direção futura do Ibovespa utilizando métodos de Aprendizado de Máquina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POR QUE ESTE PROJETO?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2423160"/>
            <a:ext cx="9509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>
                <a:solidFill>
                  <a:srgbClr val="D7E1EB"/>
                </a:solidFill>
                <a:latin typeface="Aptos"/>
              </a:defRPr>
            </a:pPr>
            <a:r>
              <a:t>Investigar a aplicação de Aprendizado de Máquina na análise de dados financeiros, utilizando o Ibovespa como estudo de caso.</a:t>
            </a:r>
          </a:p>
          <a:p>
            <a:pPr algn="ctr">
              <a:spcBef>
                <a:spcPts val="2200"/>
              </a:spcBef>
              <a:defRPr sz="1400" b="1">
                <a:solidFill>
                  <a:srgbClr val="A5C3DC"/>
                </a:solidFill>
                <a:latin typeface="Aptos"/>
              </a:defRPr>
            </a:pPr>
            <a:r>
              <a:t>Dados financeiros  ·  Classificação  ·  Aprendizado de Máquina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21097" y="5212080"/>
            <a:ext cx="151932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 err="1"/>
              <a:t>Obrigado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801</Words>
  <Application>Microsoft Office PowerPoint</Application>
  <PresentationFormat>Widescreen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Marcos Daniel Da Silva Lima</cp:lastModifiedBy>
  <cp:revision>4</cp:revision>
  <dcterms:created xsi:type="dcterms:W3CDTF">2013-01-27T09:14:16Z</dcterms:created>
  <dcterms:modified xsi:type="dcterms:W3CDTF">2026-10-02T13:20:21Z</dcterms:modified>
  <cp:category/>
</cp:coreProperties>
</file>